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F2EDE6"/>
                </a:solidFill>
                <a:latin typeface="맑은 고딕"/>
              </a:defRPr>
            </a:pPr>
            <a:r>
              <a:rPr sz="1500" b="0" i="0" u="none" strike="noStrike">
                <a:solidFill>
                  <a:srgbClr val="F2EDE6"/>
                </a:solidFill>
                <a:latin typeface="맑은 고딕"/>
              </a:rPr>
              <a:t>조정에 따라 밀려난 벽 (도달 일차)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도달 일차</c:v>
                </c:pt>
              </c:strCache>
            </c:strRef>
          </c:tx>
          <c:spPr>
            <a:solidFill>
              <a:srgbClr val="E0A9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2EDE6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물약 도입</c:v>
                  </c:pt>
                  <c:pt idx="1">
                    <c:v>유닛 해금 조정</c:v>
                  </c:pt>
                  <c:pt idx="2">
                    <c:v>시작 자금 200G</c:v>
                  </c:pt>
                  <c:pt idx="3">
                    <c:v>방어 공식 재보정</c:v>
                  </c:pt>
                  <c:pt idx="4">
                    <c:v>보스 체력 하향</c:v>
                  </c:pt>
                  <c:pt idx="5">
                    <c:v>웨이브 개편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7</c:v>
                </c:pt>
                <c:pt idx="2">
                  <c:v>9</c:v>
                </c:pt>
                <c:pt idx="3">
                  <c:v>12</c:v>
                </c:pt>
                <c:pt idx="4">
                  <c:v>18</c:v>
                </c:pt>
                <c:pt idx="5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2EDE6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2EDE6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</c:scaling>
        <c:delete val="0"/>
        <c:axPos val="b"/>
        <c:majorGridlines>
          <c:spPr>
            <a:ln w="12700" cap="flat">
              <a:solidFill>
                <a:srgbClr val="3A32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90A8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231D30"/>
        </a:solidFill>
        <a:ln>
          <a:noFill/>
        </a:ln>
        <a:effectLst/>
      </c:spPr>
    </c:plotArea>
    <c:plotVisOnly val="1"/>
    <c:dispBlanksAs val="span"/>
  </c:chart>
  <c:spPr>
    <a:solidFill>
      <a:srgbClr val="231D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 솔플 박연우 발표 시작하겠습니다.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게임 소개, 개발 현황, 개발 계획 순으로 진행됩니다.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건물이 모험가를 회복시키고 버프까지 주는 대신 골드를 받아간다는 점이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공포와 탐욕이 이 게임의 핵심 저울입니다.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역할군마다 전투 방식이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20일 구조와 정산·부채 경제가 이번 달의 가장 큰 변화입니다.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피로도와 부상 때문에 유닛 로테이션이 생겼습니다.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9일차 보스 벽이 오래 안 뚫렸는데, 수치가 아니라 방어 공식과 웨이브 설계 문제였습니다.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콘텐츠, 밸런스, 비주얼 순서로 진행할 예정입니다.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이상으로 발표 마치겠습니다.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65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9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발표  ·  2026.09  ·  박연우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던전 운영 디펜스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204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모험가를 어떻게 잡느냐가 아니라,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써먹고 잡느냐를 고민하는 게임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던전 경영  +  자동 전투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0" y="2139696"/>
            <a:ext cx="1463040" cy="18288"/>
          </a:xfrm>
          <a:prstGeom prst="line">
            <a:avLst/>
          </a:prstGeom>
          <a:noFill/>
          <a:ln w="19050">
            <a:solidFill>
              <a:srgbClr val="4A40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2148840"/>
            <a:ext cx="1280160" cy="822960"/>
          </a:xfrm>
          <a:prstGeom prst="line">
            <a:avLst/>
          </a:prstGeom>
          <a:noFill/>
          <a:ln w="19050">
            <a:solidFill>
              <a:srgbClr val="4A405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83496" y="2148840"/>
            <a:ext cx="18288" cy="1554480"/>
          </a:xfrm>
          <a:prstGeom prst="line">
            <a:avLst/>
          </a:prstGeom>
          <a:noFill/>
          <a:ln w="19050">
            <a:solidFill>
              <a:srgbClr val="4A405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8229600" y="3703320"/>
            <a:ext cx="1463040" cy="548640"/>
          </a:xfrm>
          <a:prstGeom prst="line">
            <a:avLst/>
          </a:prstGeom>
          <a:noFill/>
          <a:ln w="19050">
            <a:solidFill>
              <a:srgbClr val="4A405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0" y="3703320"/>
            <a:ext cx="1280160" cy="914400"/>
          </a:xfrm>
          <a:prstGeom prst="line">
            <a:avLst/>
          </a:prstGeom>
          <a:noFill/>
          <a:ln w="19050">
            <a:solidFill>
              <a:srgbClr val="4A40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0" y="1965960"/>
            <a:ext cx="365760" cy="365760"/>
          </a:xfrm>
          <a:prstGeom prst="ellipse">
            <a:avLst/>
          </a:prstGeom>
          <a:solidFill>
            <a:srgbClr val="2C2438"/>
          </a:solidFill>
          <a:ln w="12700">
            <a:solidFill>
              <a:srgbClr val="5A4E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1472" y="1947672"/>
            <a:ext cx="402336" cy="402336"/>
          </a:xfrm>
          <a:prstGeom prst="ellipse">
            <a:avLst/>
          </a:prstGeom>
          <a:solidFill>
            <a:srgbClr val="2C2438"/>
          </a:solidFill>
          <a:ln w="12700">
            <a:solidFill>
              <a:srgbClr val="5A4E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9920" y="2788920"/>
            <a:ext cx="365760" cy="365760"/>
          </a:xfrm>
          <a:prstGeom prst="ellipse">
            <a:avLst/>
          </a:prstGeom>
          <a:solidFill>
            <a:srgbClr val="2C2438"/>
          </a:solidFill>
          <a:ln w="12700">
            <a:solidFill>
              <a:srgbClr val="5A4E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91472" y="3502152"/>
            <a:ext cx="402336" cy="402336"/>
          </a:xfrm>
          <a:prstGeom prst="ellipse">
            <a:avLst/>
          </a:prstGeom>
          <a:solidFill>
            <a:srgbClr val="2C2438"/>
          </a:solidFill>
          <a:ln w="12700">
            <a:solidFill>
              <a:srgbClr val="5A4E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4069080"/>
            <a:ext cx="365760" cy="365760"/>
          </a:xfrm>
          <a:prstGeom prst="ellipse">
            <a:avLst/>
          </a:prstGeom>
          <a:solidFill>
            <a:srgbClr val="C0574B"/>
          </a:solidFill>
          <a:ln w="12700">
            <a:solidFill>
              <a:srgbClr val="5A4E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35056" y="4379976"/>
            <a:ext cx="475488" cy="475488"/>
          </a:xfrm>
          <a:prstGeom prst="ellipse">
            <a:avLst/>
          </a:prstGeom>
          <a:solidFill>
            <a:srgbClr val="E0A94A"/>
          </a:solidFill>
          <a:ln w="12700">
            <a:solidFill>
              <a:srgbClr val="5A4E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332720" y="4910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금고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1581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입구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9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4712" y="2542032"/>
            <a:ext cx="402336" cy="402336"/>
          </a:xfrm>
          <a:prstGeom prst="ellipse">
            <a:avLst/>
          </a:prstGeom>
          <a:solidFill>
            <a:srgbClr val="E0A94A"/>
          </a:solidFill>
          <a:ln w="12700">
            <a:solidFill>
              <a:srgbClr val="E0A9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24712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2004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소개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7033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던전을 넓히고 모험가에게서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돈을 뜯는 경영 디펜스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96596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56632" y="2542032"/>
            <a:ext cx="402336" cy="402336"/>
          </a:xfrm>
          <a:prstGeom prst="ellipse">
            <a:avLst/>
          </a:prstGeom>
          <a:solidFill>
            <a:srgbClr val="E0A94A"/>
          </a:solidFill>
          <a:ln w="12700">
            <a:solidFill>
              <a:srgbClr val="E0A9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56632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32004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현황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37033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루프 완성,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20일 구조와 실측 밸런스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03920" y="196596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88552" y="2542032"/>
            <a:ext cx="402336" cy="402336"/>
          </a:xfrm>
          <a:prstGeom prst="ellipse">
            <a:avLst/>
          </a:prstGeom>
          <a:solidFill>
            <a:srgbClr val="E0A94A"/>
          </a:solidFill>
          <a:ln w="12700">
            <a:solidFill>
              <a:srgbClr val="E0A9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88552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32004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계획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37033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확장 · 밸런스 ·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비주얼과 연출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9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게임 소개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던전을 넓히고, 모험가를 써먹는다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943600" cy="4160520"/>
          </a:xfrm>
          <a:prstGeom prst="roundRect">
            <a:avLst>
              <a:gd name="adj" fmla="val 1758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던전 키퍼와 던전 메이커를 레퍼런스로, 던전을 확장하고 찾아오는 모험가를 상대하는 게임입니다.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0632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포인트는 던전 안의 상점·주점이 모험가를 털기만 하는 게 아니라 체력을 회복시키고 버프까지 준다는 점입니다. 그 대가로 골드를 뜯어갑니다.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입구에서 바로 죽이는 건 정답이 아닙니다. 적당히 살려서 가게에 돈을 쓰게 만든 뒤, 금고 직전에 잡는 것이 가장 이득입니다.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08660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9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루프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086600" y="224028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88352" y="2450592"/>
            <a:ext cx="402336" cy="402336"/>
          </a:xfrm>
          <a:prstGeom prst="ellipse">
            <a:avLst/>
          </a:prstGeom>
          <a:solidFill>
            <a:srgbClr val="E0A94A"/>
          </a:solidFill>
          <a:ln w="12700">
            <a:solidFill>
              <a:srgbClr val="E0A9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88352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23591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던전 확장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2660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노드를 이어 붙여 방을 넓힌다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86600" y="320040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88352" y="3410712"/>
            <a:ext cx="402336" cy="402336"/>
          </a:xfrm>
          <a:prstGeom prst="ellipse">
            <a:avLst/>
          </a:prstGeom>
          <a:solidFill>
            <a:srgbClr val="E0A94A"/>
          </a:solidFill>
          <a:ln w="12700">
            <a:solidFill>
              <a:srgbClr val="E0A9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88352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33192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유닛 배치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36210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역할군을 나눠 방마다 배치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86600" y="416052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88352" y="4370832"/>
            <a:ext cx="402336" cy="402336"/>
          </a:xfrm>
          <a:prstGeom prst="ellipse">
            <a:avLst/>
          </a:prstGeom>
          <a:solidFill>
            <a:srgbClr val="E0A94A"/>
          </a:solidFill>
          <a:ln w="12700">
            <a:solidFill>
              <a:srgbClr val="E0A9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88352" y="4370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42793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웨이브 방어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45811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하루에 한 번 파티가 들어온다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86600" y="512064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88352" y="5330952"/>
            <a:ext cx="402336" cy="402336"/>
          </a:xfrm>
          <a:prstGeom prst="ellipse">
            <a:avLst/>
          </a:prstGeom>
          <a:solidFill>
            <a:srgbClr val="E0A94A"/>
          </a:solidFill>
          <a:ln w="12700">
            <a:solidFill>
              <a:srgbClr val="E0A9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88352" y="5330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955280" y="52395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정산 · 확장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55412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장부를 정리하고 다시 넓힌다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9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게임 소개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얼마나 뜯고, 언제 잡을 것인가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240280"/>
            <a:ext cx="457200" cy="457200"/>
          </a:xfrm>
          <a:prstGeom prst="ellipse">
            <a:avLst/>
          </a:prstGeom>
          <a:solidFill>
            <a:srgbClr val="C0574B"/>
          </a:solidFill>
          <a:ln w="12700">
            <a:solidFill>
              <a:srgbClr val="C057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91640" y="22677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공포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92608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7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함정을 밟거나 전투를 하면 오른다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42900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공포가 높을수록 도망갈 확률 상승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일찍 잡으면 그만큼 덜 뜯는다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182880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3720" y="2240280"/>
            <a:ext cx="457200" cy="457200"/>
          </a:xfrm>
          <a:prstGeom prst="ellipse">
            <a:avLst/>
          </a:prstGeom>
          <a:solidFill>
            <a:srgbClr val="E0A94A"/>
          </a:solidFill>
          <a:ln w="12700">
            <a:solidFill>
              <a:srgbClr val="E0A9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43800" y="22677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탐욕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292608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9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가게를 이용할수록 오른다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342900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깊은 곳까지 욕심내며 들어온다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 살릴수록 금고가 위험해진다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수치가 맞물려, 플레이어는 매 웨이브 얼마나 뜯고 언제 잡을지를 계속 저울질하게 됩니다.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9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게임 소개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전투 — 배치만 하면 알아서 싸운다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팀파이트 매니저 방식의 자동 전투입니다. 직접 컨트롤하지 않고 유닛을 배치해 두면 역할군에 맞춰 AI가 스스로 싸웁니다.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624328" cy="2148840"/>
          </a:xfrm>
          <a:prstGeom prst="roundRect">
            <a:avLst>
              <a:gd name="adj" fmla="val 3404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51076" y="2606040"/>
            <a:ext cx="402336" cy="402336"/>
          </a:xfrm>
          <a:prstGeom prst="ellipse">
            <a:avLst/>
          </a:prstGeom>
          <a:solidFill>
            <a:srgbClr val="2C2438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51076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9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72968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탱커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11880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어그로를 끌어 후열을 몸으로 막는다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47872" y="2240280"/>
            <a:ext cx="2624328" cy="2148840"/>
          </a:xfrm>
          <a:prstGeom prst="roundRect">
            <a:avLst>
              <a:gd name="adj" fmla="val 3404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58868" y="2606040"/>
            <a:ext cx="402336" cy="402336"/>
          </a:xfrm>
          <a:prstGeom prst="ellipse">
            <a:avLst/>
          </a:prstGeom>
          <a:solidFill>
            <a:srgbClr val="2C2438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58868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9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76472" y="3172968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근접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822192" y="3611880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때리면서 흡혈로 스스로 회복한다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55664" y="2240280"/>
            <a:ext cx="2624328" cy="2148840"/>
          </a:xfrm>
          <a:prstGeom prst="roundRect">
            <a:avLst>
              <a:gd name="adj" fmla="val 3404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66660" y="2606040"/>
            <a:ext cx="402336" cy="402336"/>
          </a:xfrm>
          <a:prstGeom prst="ellipse">
            <a:avLst/>
          </a:prstGeom>
          <a:solidFill>
            <a:srgbClr val="2C2438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6666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9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84264" y="3172968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원거리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729984" y="3611880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거리를 벌리며 치고 빠진다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363456" y="2240280"/>
            <a:ext cx="2624328" cy="2148840"/>
          </a:xfrm>
          <a:prstGeom prst="roundRect">
            <a:avLst>
              <a:gd name="adj" fmla="val 3404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74452" y="2606040"/>
            <a:ext cx="402336" cy="402336"/>
          </a:xfrm>
          <a:prstGeom prst="ellipse">
            <a:avLst/>
          </a:prstGeom>
          <a:solidFill>
            <a:srgbClr val="2C2438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47445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9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592056" y="3172968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서포터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637776" y="3611880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힐 오라로 아군을 살려 둔다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754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 스킬과 궁극기까지 들어가, 배치를 잘해 두면 전투를 지켜보는 재미가 생깁니다.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9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개발 현황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판의 구조가 확정됐다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24328" cy="1828800"/>
          </a:xfrm>
          <a:prstGeom prst="roundRect">
            <a:avLst>
              <a:gd name="adj" fmla="val 4000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0312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A9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20일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3464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판의 길이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보스는 9 · 18 · 20일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47872" y="1783080"/>
            <a:ext cx="2624328" cy="1828800"/>
          </a:xfrm>
          <a:prstGeom prst="roundRect">
            <a:avLst>
              <a:gd name="adj" fmla="val 4000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85032" y="210312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A9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40~60분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776472" y="283464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판 플레이 타임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55664" y="1783080"/>
            <a:ext cx="2624328" cy="1828800"/>
          </a:xfrm>
          <a:prstGeom prst="roundRect">
            <a:avLst>
              <a:gd name="adj" fmla="val 4000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92824" y="210312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A9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+ 12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684264" y="283464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유닛 9종 · 건물 12종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18일에 걸쳐 순차 해금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63456" y="1783080"/>
            <a:ext cx="2624328" cy="1828800"/>
          </a:xfrm>
          <a:prstGeom prst="roundRect">
            <a:avLst>
              <a:gd name="adj" fmla="val 4000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00616" y="210312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A9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12종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592056" y="283464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상인이 2일마다 들고 오는 유물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10908792" cy="1965960"/>
          </a:xfrm>
          <a:prstGeom prst="roundRect">
            <a:avLst>
              <a:gd name="adj" fmla="val 3721"/>
            </a:avLst>
          </a:prstGeom>
          <a:solidFill>
            <a:srgbClr val="2C2438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114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9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경제 — 하루의 끝은 장부로 정리된다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5262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웨이브 중 수입과 지출은 장부에만 쌓이고, 금화는 정산에서 한 번에 움직인다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적자는 부채가 되어 정산마다 이자 10%, 흑자의 50%는 자동 상환된다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부채 한도 300G를 넘으면 파산 — 게임 오버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9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개발 현황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유닛을 소모품이 아니라 사람으로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고용한 유닛이 웨이브를 거치며 지치고 다칩니다. 누구를 내보내고 누구를 쉬게 할지가 새로운 선택지가 됐습니다.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2450592"/>
            <a:ext cx="402336" cy="402336"/>
          </a:xfrm>
          <a:prstGeom prst="ellipse">
            <a:avLst/>
          </a:prstGeom>
          <a:solidFill>
            <a:srgbClr val="E0A94A"/>
          </a:solidFill>
          <a:ln w="12700">
            <a:solidFill>
              <a:srgbClr val="E0A9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832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4414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피로도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9260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웨이브를 치를수록, 공격을 맞힐수록 쌓인다. 높으면 공격력과 공격 속도가 떨어지고 100에서 탈진한다.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214884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93992" y="2450592"/>
            <a:ext cx="402336" cy="402336"/>
          </a:xfrm>
          <a:prstGeom prst="ellipse">
            <a:avLst/>
          </a:prstGeom>
          <a:solidFill>
            <a:srgbClr val="E0A94A"/>
          </a:solidFill>
          <a:ln w="12700">
            <a:solidFill>
              <a:srgbClr val="E0A9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93992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4414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부상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9260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웨이브 종료 시 남은 체력으로 경상·중상을 판정한다. 대기시키면 중상 → 경상 → 정상으로 회복된다.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1832" y="4416552"/>
            <a:ext cx="402336" cy="402336"/>
          </a:xfrm>
          <a:prstGeom prst="ellipse">
            <a:avLst/>
          </a:prstGeom>
          <a:solidFill>
            <a:srgbClr val="E0A94A"/>
          </a:solidFill>
          <a:ln w="12700">
            <a:solidFill>
              <a:srgbClr val="E0A9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1832" y="4416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4074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특성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8920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고용할 때 무작위로 하나. 공격적·수호자·신중함·강인함·야전 의무병 등 장단점이 함께 붙는다.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411480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93992" y="4416552"/>
            <a:ext cx="402336" cy="402336"/>
          </a:xfrm>
          <a:prstGeom prst="ellipse">
            <a:avLst/>
          </a:prstGeom>
          <a:solidFill>
            <a:srgbClr val="E0A94A"/>
          </a:solidFill>
          <a:ln w="12700">
            <a:solidFill>
              <a:srgbClr val="E0A9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93992" y="4416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44074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성격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48920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특성과 별개로 하나 더. 침착함·열혈·겁이 많음·완벽주의·사교적으로 같은 직업도 다르게 굴러간다.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9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개발 현황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드라이버로 밸런스를 실측했다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794760" cy="4160520"/>
          </a:xfrm>
          <a:prstGeom prst="roundRect">
            <a:avLst>
              <a:gd name="adj" fmla="val 1928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03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9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했나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56032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에디터를 자동 조작하는 드라이버로 20일 완주를 10회 이상 반복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격퇴율 · 가한 피해 · 받은 피해 · 골드를 일차별로 기록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1~8일차 격퇴율은 거의 항상 100% — 초반은 손댈 이유가 없었다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막히는 날을 하나씩 밀어내며 수치를 조정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892040" y="1783080"/>
          <a:ext cx="6656832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드라이버의 소비 정책에 결과가 좌우되므로 위 수치는 하한선입니다. 사람이 직접 플레이하면 더 멀리 갑니다.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9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개발 계획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 세 가지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1280160"/>
          </a:xfrm>
          <a:prstGeom prst="roundRect">
            <a:avLst>
              <a:gd name="adj" fmla="val 5714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2221992"/>
            <a:ext cx="402336" cy="402336"/>
          </a:xfrm>
          <a:prstGeom prst="ellipse">
            <a:avLst/>
          </a:prstGeom>
          <a:solidFill>
            <a:srgbClr val="E0A94A"/>
          </a:solidFill>
          <a:ln w="12700">
            <a:solidFill>
              <a:srgbClr val="E0A9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8992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0391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확장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05740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시스템만 잡혀 있는 상태입니다. 유닛·적·건물·유물·스킬 종류를 늘려 빌드와 전략의 폭을 넓힐 계획입니다.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355848"/>
            <a:ext cx="10908792" cy="1280160"/>
          </a:xfrm>
          <a:prstGeom prst="roundRect">
            <a:avLst>
              <a:gd name="adj" fmla="val 5714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" y="3794760"/>
            <a:ext cx="402336" cy="402336"/>
          </a:xfrm>
          <a:prstGeom prst="ellipse">
            <a:avLst/>
          </a:prstGeom>
          <a:solidFill>
            <a:srgbClr val="E0A94A"/>
          </a:solidFill>
          <a:ln w="12700">
            <a:solidFill>
              <a:srgbClr val="E0A9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8992" y="3794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밸런스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63016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얼마나 살려서 뜯고 언제 잡을지라는 핵심 재미가 더 잘 드러나도록 공포·탐욕·골드를 다듬고, 보스전과 후반 난이도를 손봅니다.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928616"/>
            <a:ext cx="10908792" cy="1280160"/>
          </a:xfrm>
          <a:prstGeom prst="roundRect">
            <a:avLst>
              <a:gd name="adj" fmla="val 5714"/>
            </a:avLst>
          </a:prstGeom>
          <a:solidFill>
            <a:srgbClr val="231D30"/>
          </a:solidFill>
          <a:ln w="12700">
            <a:solidFill>
              <a:srgbClr val="231D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8992" y="5367528"/>
            <a:ext cx="402336" cy="402336"/>
          </a:xfrm>
          <a:prstGeom prst="ellipse">
            <a:avLst/>
          </a:prstGeom>
          <a:solidFill>
            <a:srgbClr val="E0A94A"/>
          </a:solidFill>
          <a:ln w="12700">
            <a:solidFill>
              <a:srgbClr val="E0A9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78992" y="5367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5184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비주얼과 연출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5202936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발사체처럼 임시 도형으로 들어가 있는 요소를 제대로 된 아트와 이펙트로 교체합니다.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9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정리하면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06040"/>
            <a:ext cx="9692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800" b="1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모험가를 어떻게 잡느냐가 아니라
</a:t>
            </a:r>
            <a:pPr indent="0" marL="0">
              <a:lnSpc>
                <a:spcPct val="135000"/>
              </a:lnSpc>
              <a:buNone/>
            </a:pPr>
            <a:r>
              <a:rPr lang="en-US" sz="2800" b="1" dirty="0">
                <a:solidFill>
                  <a:srgbClr val="E0A9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써먹고 잡느냐</a:t>
            </a:r>
            <a:pPr indent="0" marL="0">
              <a:lnSpc>
                <a:spcPct val="135000"/>
              </a:lnSpc>
              <a:buNone/>
            </a:pPr>
            <a:r>
              <a:rPr lang="en-US" sz="2800" b="1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고민하게 만드는,</a:t>
            </a:r>
            <a:endParaRPr lang="en-US" sz="2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800" b="1" dirty="0">
                <a:solidFill>
                  <a:srgbClr val="9A9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던전 경영에 자동 전투를 섞은 게임입니다.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800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561320" y="4572000"/>
            <a:ext cx="548640" cy="548640"/>
          </a:xfrm>
          <a:prstGeom prst="ellipse">
            <a:avLst/>
          </a:prstGeom>
          <a:solidFill>
            <a:srgbClr val="E0A94A"/>
          </a:solidFill>
          <a:ln w="12700">
            <a:solidFill>
              <a:srgbClr val="E0A9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29800" y="4846320"/>
            <a:ext cx="274320" cy="274320"/>
          </a:xfrm>
          <a:prstGeom prst="ellipse">
            <a:avLst/>
          </a:prstGeom>
          <a:solidFill>
            <a:srgbClr val="C0574B"/>
          </a:solidFill>
          <a:ln w="12700">
            <a:solidFill>
              <a:srgbClr val="C0574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던전 운영 디펜스 — 월간 발표</dc:title>
  <dc:subject>PptxGenJS Presentation</dc:subject>
  <dc:creator>박연우</dc:creator>
  <cp:lastModifiedBy>박연우</cp:lastModifiedBy>
  <cp:revision>1</cp:revision>
  <dcterms:created xsi:type="dcterms:W3CDTF">2026-09-09T06:31:12Z</dcterms:created>
  <dcterms:modified xsi:type="dcterms:W3CDTF">2026-09-09T06:31:12Z</dcterms:modified>
</cp:coreProperties>
</file>